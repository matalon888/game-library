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7607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28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PROJECT PRESENTATION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0F0F0"/>
                </a:solidFill>
                <a:effectLst>
                  <a:glow rad="228600">
                    <a:srgbClr val="FF2D2D">
                      <a:alpha val="4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AI PRISON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274320" y="1783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2D2D"/>
                </a:solidFill>
                <a:effectLst>
                  <a:glow rad="228600">
                    <a:srgbClr val="FF2D2D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BREAK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27432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Stealth Game — Powered by Real AI Algorithms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3520440"/>
            <a:ext cx="1005840" cy="347472"/>
          </a:xfrm>
          <a:prstGeom prst="rect">
            <a:avLst/>
          </a:prstGeom>
          <a:solidFill>
            <a:srgbClr val="00E87A">
              <a:alpha val="15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520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3520440"/>
            <a:ext cx="1005840" cy="347472"/>
          </a:xfrm>
          <a:prstGeom prst="rect">
            <a:avLst/>
          </a:prstGeom>
          <a:solidFill>
            <a:srgbClr val="FF2D2D">
              <a:alpha val="15000"/>
            </a:srgbClr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3520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A*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3520440"/>
            <a:ext cx="1005840" cy="347472"/>
          </a:xfrm>
          <a:prstGeom prst="rect">
            <a:avLst/>
          </a:prstGeom>
          <a:solidFill>
            <a:srgbClr val="FF9A00">
              <a:alpha val="15000"/>
            </a:srgbClr>
          </a:solidFill>
          <a:ln w="12700">
            <a:solidFill>
              <a:srgbClr val="FF9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520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03320" y="3520440"/>
            <a:ext cx="1005840" cy="347472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520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BOIDS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520440"/>
            <a:ext cx="1005840" cy="347472"/>
          </a:xfrm>
          <a:prstGeom prst="rect">
            <a:avLst/>
          </a:prstGeom>
          <a:solidFill>
            <a:srgbClr val="3B9EFF">
              <a:alpha val="15000"/>
            </a:srgbClr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520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0" y="548640"/>
            <a:ext cx="2926080" cy="4114800"/>
          </a:xfrm>
          <a:prstGeom prst="rect">
            <a:avLst/>
          </a:prstGeom>
          <a:solidFill>
            <a:srgbClr val="13151F">
              <a:alpha val="70000"/>
            </a:srgbClr>
          </a:solidFill>
          <a:ln w="12700">
            <a:solidFill>
              <a:srgbClr val="00E87A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685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Guard AI Engine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9692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Guard {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1252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 = PATROL;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1536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update(player) {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35040" y="18196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if(canSee) {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3504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runAStar();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35040" y="23865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state=CHASE;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35040" y="2670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35040" y="2953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dfsPatrol();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35040" y="32369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35040" y="3520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35040" y="38039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8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is AI Prison Break?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383280"/>
          </a:xfrm>
          <a:prstGeom prst="rect">
            <a:avLst/>
          </a:prstGeom>
          <a:solidFill>
            <a:srgbClr val="13151F"/>
          </a:solidFill>
          <a:ln w="19050">
            <a:solidFill>
              <a:srgbClr val="3B9E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743200" cy="54864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08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top-down stealth game where you are a prisoner escaping a high-security facility. Guards patrol, detect and pursue you using real AI algorithms.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371600"/>
            <a:ext cx="2743200" cy="3383280"/>
          </a:xfrm>
          <a:prstGeom prst="rect">
            <a:avLst/>
          </a:prstGeom>
          <a:solidFill>
            <a:srgbClr val="13151F"/>
          </a:solidFill>
          <a:ln w="19050">
            <a:solidFill>
              <a:srgbClr val="00E87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71600"/>
            <a:ext cx="2743200" cy="54864"/>
          </a:xfrm>
          <a:prstGeom prst="rect">
            <a:avLst/>
          </a:prstGeom>
          <a:solidFill>
            <a:srgbClr val="00E87A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1508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27832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251460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are not scripted. Each one runs a live Finite State Machine with 3 states. Every transition triggers a different search algorithm.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1371600"/>
            <a:ext cx="2743200" cy="3383280"/>
          </a:xfrm>
          <a:prstGeom prst="rect">
            <a:avLst/>
          </a:prstGeom>
          <a:solidFill>
            <a:srgbClr val="13151F"/>
          </a:solidFill>
          <a:ln w="19050">
            <a:solidFill>
              <a:srgbClr val="FF2D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371600"/>
            <a:ext cx="2743200" cy="54864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7" name="Text 15"/>
          <p:cNvSpPr/>
          <p:nvPr/>
        </p:nvSpPr>
        <p:spPr>
          <a:xfrm>
            <a:off x="6181344" y="1508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81344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GOAL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72784" y="251460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EXIT tile before guards catch you. Guards adapt — chase state uses A* for optimal pursuit, search state uses BFS wave expansion.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Finite State Machine (FSM)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194560" cy="2560320"/>
          </a:xfrm>
          <a:prstGeom prst="rect">
            <a:avLst/>
          </a:prstGeom>
          <a:solidFill>
            <a:srgbClr val="13151F"/>
          </a:solidFill>
          <a:ln w="25400">
            <a:solidFill>
              <a:srgbClr val="00E87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194560" cy="457200"/>
          </a:xfrm>
          <a:prstGeom prst="rect">
            <a:avLst/>
          </a:prstGeom>
          <a:solidFill>
            <a:srgbClr val="00E87A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075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1874520"/>
            <a:ext cx="914400" cy="347472"/>
          </a:xfrm>
          <a:prstGeom prst="rect">
            <a:avLst/>
          </a:prstGeom>
          <a:solidFill>
            <a:srgbClr val="00E87A">
              <a:alpha val="20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745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8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DFS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traversal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corridors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280160"/>
            <a:ext cx="2194560" cy="2560320"/>
          </a:xfrm>
          <a:prstGeom prst="rect">
            <a:avLst/>
          </a:prstGeom>
          <a:solidFill>
            <a:srgbClr val="13151F"/>
          </a:solidFill>
          <a:ln w="25400">
            <a:solidFill>
              <a:srgbClr val="FF2D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280160"/>
            <a:ext cx="2194560" cy="457200"/>
          </a:xfrm>
          <a:prstGeom prst="rect">
            <a:avLst/>
          </a:prstGeom>
          <a:solidFill>
            <a:srgbClr val="FF2D2D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3075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69080" y="1874520"/>
            <a:ext cx="914400" cy="347472"/>
          </a:xfrm>
          <a:prstGeom prst="rect">
            <a:avLst/>
          </a:prstGeom>
          <a:solidFill>
            <a:srgbClr val="FF2D2D">
              <a:alpha val="20000"/>
            </a:srgbClr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18745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A*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377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path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f(n)=g(n)+h(n)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heuristic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280160"/>
            <a:ext cx="2194560" cy="2560320"/>
          </a:xfrm>
          <a:prstGeom prst="rect">
            <a:avLst/>
          </a:prstGeom>
          <a:solidFill>
            <a:srgbClr val="13151F"/>
          </a:solidFill>
          <a:ln w="25400">
            <a:solidFill>
              <a:srgbClr val="FF9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280160"/>
            <a:ext cx="2194560" cy="457200"/>
          </a:xfrm>
          <a:prstGeom prst="rect">
            <a:avLst/>
          </a:prstGeom>
          <a:solidFill>
            <a:srgbClr val="FF9A00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3075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1874520"/>
            <a:ext cx="914400" cy="347472"/>
          </a:xfrm>
          <a:prstGeom prst="rect">
            <a:avLst/>
          </a:prstGeom>
          <a:solidFill>
            <a:srgbClr val="FF9A00">
              <a:alpha val="20000"/>
            </a:srgbClr>
          </a:solidFill>
          <a:ln w="12700">
            <a:solidFill>
              <a:srgbClr val="FF9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8745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9A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BFS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2377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expansion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last known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position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2560320"/>
            <a:ext cx="777240" cy="0"/>
          </a:xfrm>
          <a:prstGeom prst="line">
            <a:avLst/>
          </a:prstGeom>
          <a:noFill/>
          <a:ln w="31750">
            <a:solidFill>
              <a:srgbClr val="FF2D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148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sees player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23560" y="2560320"/>
            <a:ext cx="777240" cy="0"/>
          </a:xfrm>
          <a:prstGeom prst="line">
            <a:avLst/>
          </a:prstGeom>
          <a:noFill/>
          <a:ln w="31750">
            <a:solidFill>
              <a:srgbClr val="FF9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148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loses sight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554480" y="4069080"/>
            <a:ext cx="6583680" cy="0"/>
          </a:xfrm>
          <a:prstGeom prst="line">
            <a:avLst/>
          </a:prstGeom>
          <a:noFill/>
          <a:ln w="19050">
            <a:solidFill>
              <a:srgbClr val="555566"/>
            </a:solidFill>
            <a:prstDash val="sysDash"/>
          </a:ln>
        </p:spPr>
      </p:sp>
      <p:sp>
        <p:nvSpPr>
          <p:cNvPr id="28" name="Text 26"/>
          <p:cNvSpPr/>
          <p:nvPr/>
        </p:nvSpPr>
        <p:spPr>
          <a:xfrm>
            <a:off x="1554480" y="413308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timeout → returns to PATROL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fsm.js  |  guard.js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8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Depth First Search — DFS Patrol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566160"/>
          </a:xfrm>
          <a:prstGeom prst="rect">
            <a:avLst/>
          </a:prstGeom>
          <a:solidFill>
            <a:srgbClr val="13151F"/>
          </a:solidFill>
          <a:ln w="12700">
            <a:solidFill>
              <a:srgbClr val="00E87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maintains an explicit stack of tiles. Pushes unvisited neighbors, pops when stuck — classic DFS.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DFS for patrol?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goes deep into corridors before backtracking — exactly how a human guard would patrol a hallway.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 memory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tracks visited tiles. When all neighbors are visited, guard backtracks up the stack naturally.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Organic look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 are shuffled randomly before pushing — no two patrol routes are identical.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1371600"/>
          </a:xfrm>
          <a:prstGeom prst="rect">
            <a:avLst/>
          </a:prstGeom>
          <a:solidFill>
            <a:srgbClr val="13151F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645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 </a:t>
            </a:r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visits every tile once
</a:t>
            </a:r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Space: </a:t>
            </a:r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stack + visited set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20624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834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guard.js → _dfsStep()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31272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top = stack[stack.length-1];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3346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(!visited.has(top)) {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3566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visited.add(top);  // mark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3785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 = top;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40050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neighbors.shuffle();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4224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for(nb of neighbors)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44439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stack.push(nb); // recurse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4663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stack.pop(); // backtrack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54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guard.js  →  _dfsStep()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A* Search — Optimal Chase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777240"/>
          </a:xfrm>
          <a:prstGeom prst="rect">
            <a:avLst/>
          </a:prstGeom>
          <a:solidFill>
            <a:srgbClr val="13151F"/>
          </a:solidFill>
          <a:ln w="19050">
            <a:solidFill>
              <a:srgbClr val="FF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 =  </a:t>
            </a:r>
            <a:pPr algn="ctr" indent="0" marL="0">
              <a:buNone/>
            </a:pPr>
            <a:r>
              <a:rPr lang="en-US" sz="26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g(n)</a:t>
            </a:r>
            <a:pPr algn="ctr" indent="0" marL="0">
              <a:buNone/>
            </a:pPr>
            <a:r>
              <a:rPr lang="en-US" sz="22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pPr algn="ctr" indent="0" marL="0">
              <a:buNone/>
            </a:pPr>
            <a:r>
              <a:rPr lang="en-US" sz="26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</a:t>
            </a:r>
            <a:pPr algn="ctr" indent="0" marL="0">
              <a:buNone/>
            </a:pPr>
            <a:r>
              <a:rPr lang="en-US" sz="14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where  </a:t>
            </a:r>
            <a:pPr algn="ctr" indent="0" marL="0">
              <a:buNone/>
            </a:pPr>
            <a:r>
              <a:rPr lang="en-US" sz="14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g(n)</a:t>
            </a:r>
            <a:pPr algn="ctr" indent="0" marL="0">
              <a:buNone/>
            </a:pPr>
            <a:r>
              <a:rPr lang="en-US" sz="14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cost so far,  </a:t>
            </a:r>
            <a:pPr algn="ctr" indent="0" marL="0">
              <a:buNone/>
            </a:pPr>
            <a:r>
              <a:rPr lang="en-US" sz="14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</a:t>
            </a:r>
            <a:pPr algn="ctr" indent="0" marL="0">
              <a:buNone/>
            </a:pPr>
            <a:r>
              <a:rPr lang="en-US" sz="14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Manhattan distance to player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2743200" cy="2606040"/>
          </a:xfrm>
          <a:prstGeom prst="rect">
            <a:avLst/>
          </a:prstGeom>
          <a:solidFill>
            <a:srgbClr val="13151F"/>
          </a:solidFill>
          <a:ln w="19050">
            <a:solidFill>
              <a:srgbClr val="00E87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94560"/>
            <a:ext cx="2743200" cy="54864"/>
          </a:xfrm>
          <a:prstGeom prst="rect">
            <a:avLst/>
          </a:prstGeom>
          <a:solidFill>
            <a:srgbClr val="00E87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Manhattan Heuristic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|col₁−col₂| + |row₁−row₂|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Admissible — never overestimates.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optimal path.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2194560"/>
            <a:ext cx="2743200" cy="2606040"/>
          </a:xfrm>
          <a:prstGeom prst="rect">
            <a:avLst/>
          </a:prstGeom>
          <a:solidFill>
            <a:srgbClr val="13151F"/>
          </a:solidFill>
          <a:ln w="19050">
            <a:solidFill>
              <a:srgbClr val="FF9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2194560"/>
            <a:ext cx="2743200" cy="54864"/>
          </a:xfrm>
          <a:prstGeom prst="rect">
            <a:avLst/>
          </a:prstGeom>
          <a:solidFill>
            <a:srgbClr val="FF9A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Recalculation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26974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recalculates every 350ms 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moves. Guard always pursues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optimal route.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2194560"/>
            <a:ext cx="2743200" cy="2606040"/>
          </a:xfrm>
          <a:prstGeom prst="rect">
            <a:avLst/>
          </a:prstGeom>
          <a:solidFill>
            <a:srgbClr val="13151F"/>
          </a:solidFill>
          <a:ln w="19050">
            <a:solidFill>
              <a:srgbClr val="3B9E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194560"/>
            <a:ext cx="2743200" cy="54864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Set Pruning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72784" y="26974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Already-explored tiles are skipped.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selects lowest f(n)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next — efficient pursuit.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0608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817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</a:t>
            </a:r>
            <a:pPr algn="l" indent="0" marL="0">
              <a:buNone/>
            </a:pPr>
            <a:r>
              <a:rPr lang="en-US" sz="1100" b="1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V)</a:t>
            </a:r>
            <a:pPr algn="l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Space: </a:t>
            </a:r>
            <a:pPr algn="l" indent="0" marL="0">
              <a:buNone/>
            </a:pPr>
            <a:r>
              <a:rPr lang="en-US" sz="1100" b="1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pPr algn="l"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📁 astar.js → findWithDebug()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9A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Breadth First Search — Area Sweep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3657600"/>
          </a:xfrm>
          <a:prstGeom prst="rect">
            <a:avLst/>
          </a:prstGeom>
          <a:solidFill>
            <a:srgbClr val="13151F"/>
          </a:solidFill>
          <a:ln w="12700">
            <a:solidFill>
              <a:srgbClr val="FF9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does SEARCH trigger?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was chasing you but you escaped its vision cone. It transitions to SEARCH — it knows roughly where you were.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BFS works here: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Start queue at last known player tile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Dequeue front tile (FIFO) — guard moves to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Enqueue all unvisited walkable neighbors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770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Expands outward level by level (wave effect)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611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Timeout → transition back to PATROL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411480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FF9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 WAVE EXPANSION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92040" y="1737360"/>
            <a:ext cx="411480" cy="320040"/>
          </a:xfrm>
          <a:prstGeom prst="rect">
            <a:avLst/>
          </a:prstGeom>
          <a:solidFill>
            <a:srgbClr val="555566">
              <a:alpha val="2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0952" y="1737360"/>
            <a:ext cx="411480" cy="320040"/>
          </a:xfrm>
          <a:prstGeom prst="rect">
            <a:avLst/>
          </a:prstGeom>
          <a:solidFill>
            <a:srgbClr val="222233"/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0952" y="1737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55"/>
                </a:solidFill>
              </a:rPr>
              <a:t>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9864" y="1737360"/>
            <a:ext cx="411480" cy="320040"/>
          </a:xfrm>
          <a:prstGeom prst="rect">
            <a:avLst/>
          </a:prstGeom>
          <a:solidFill>
            <a:srgbClr val="CC3300">
              <a:alpha val="5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9864" y="1737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08776" y="1737360"/>
            <a:ext cx="411480" cy="320040"/>
          </a:xfrm>
          <a:prstGeom prst="rect">
            <a:avLst/>
          </a:prstGeom>
          <a:solidFill>
            <a:srgbClr val="EE5500">
              <a:alpha val="7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737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47688" y="1737360"/>
            <a:ext cx="411480" cy="320040"/>
          </a:xfrm>
          <a:prstGeom prst="rect">
            <a:avLst/>
          </a:prstGeom>
          <a:solidFill>
            <a:srgbClr val="CC3300">
              <a:alpha val="5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1737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86600" y="1737360"/>
            <a:ext cx="411480" cy="320040"/>
          </a:xfrm>
          <a:prstGeom prst="rect">
            <a:avLst/>
          </a:prstGeom>
          <a:solidFill>
            <a:srgbClr val="AA1100">
              <a:alpha val="4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737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25512" y="1737360"/>
            <a:ext cx="411480" cy="320040"/>
          </a:xfrm>
          <a:prstGeom prst="rect">
            <a:avLst/>
          </a:prstGeom>
          <a:solidFill>
            <a:srgbClr val="555566">
              <a:alpha val="2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2084832"/>
            <a:ext cx="411480" cy="320040"/>
          </a:xfrm>
          <a:prstGeom prst="rect">
            <a:avLst/>
          </a:prstGeom>
          <a:solidFill>
            <a:srgbClr val="AA1100">
              <a:alpha val="4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0848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30952" y="2084832"/>
            <a:ext cx="411480" cy="320040"/>
          </a:xfrm>
          <a:prstGeom prst="rect">
            <a:avLst/>
          </a:prstGeom>
          <a:solidFill>
            <a:srgbClr val="CC3300">
              <a:alpha val="5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0952" y="20848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69864" y="2084832"/>
            <a:ext cx="411480" cy="320040"/>
          </a:xfrm>
          <a:prstGeom prst="rect">
            <a:avLst/>
          </a:prstGeom>
          <a:solidFill>
            <a:srgbClr val="EE5500">
              <a:alpha val="7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9864" y="20848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08776" y="2084832"/>
            <a:ext cx="411480" cy="320040"/>
          </a:xfrm>
          <a:prstGeom prst="rect">
            <a:avLst/>
          </a:prstGeom>
          <a:solidFill>
            <a:srgbClr val="FF7700">
              <a:alpha val="8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08776" y="20848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47688" y="2084832"/>
            <a:ext cx="411480" cy="320040"/>
          </a:xfrm>
          <a:prstGeom prst="rect">
            <a:avLst/>
          </a:prstGeom>
          <a:solidFill>
            <a:srgbClr val="222233"/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47688" y="20848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55"/>
                </a:solidFill>
              </a:rPr>
              <a:t>█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086600" y="2084832"/>
            <a:ext cx="411480" cy="320040"/>
          </a:xfrm>
          <a:prstGeom prst="rect">
            <a:avLst/>
          </a:prstGeom>
          <a:solidFill>
            <a:srgbClr val="CC3300">
              <a:alpha val="5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20848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25512" y="2084832"/>
            <a:ext cx="411480" cy="320040"/>
          </a:xfrm>
          <a:prstGeom prst="rect">
            <a:avLst/>
          </a:prstGeom>
          <a:solidFill>
            <a:srgbClr val="AA1100">
              <a:alpha val="4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25512" y="20848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2432304"/>
            <a:ext cx="411480" cy="320040"/>
          </a:xfrm>
          <a:prstGeom prst="rect">
            <a:avLst/>
          </a:prstGeom>
          <a:solidFill>
            <a:srgbClr val="CC3300">
              <a:alpha val="5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4323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30952" y="2432304"/>
            <a:ext cx="411480" cy="320040"/>
          </a:xfrm>
          <a:prstGeom prst="rect">
            <a:avLst/>
          </a:prstGeom>
          <a:solidFill>
            <a:srgbClr val="EE5500">
              <a:alpha val="7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30952" y="24323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769864" y="2432304"/>
            <a:ext cx="411480" cy="320040"/>
          </a:xfrm>
          <a:prstGeom prst="rect">
            <a:avLst/>
          </a:prstGeom>
          <a:solidFill>
            <a:srgbClr val="222233"/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9864" y="24323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55"/>
                </a:solidFill>
              </a:rPr>
              <a:t>█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08776" y="2432304"/>
            <a:ext cx="411480" cy="320040"/>
          </a:xfrm>
          <a:prstGeom prst="rect">
            <a:avLst/>
          </a:prstGeom>
          <a:solidFill>
            <a:srgbClr val="FF9A00"/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08776" y="24323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47688" y="2432304"/>
            <a:ext cx="411480" cy="320040"/>
          </a:xfrm>
          <a:prstGeom prst="rect">
            <a:avLst/>
          </a:prstGeom>
          <a:solidFill>
            <a:srgbClr val="FF7700">
              <a:alpha val="8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47688" y="24323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86600" y="2432304"/>
            <a:ext cx="411480" cy="320040"/>
          </a:xfrm>
          <a:prstGeom prst="rect">
            <a:avLst/>
          </a:prstGeom>
          <a:solidFill>
            <a:srgbClr val="EE5500">
              <a:alpha val="7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86600" y="24323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525512" y="2432304"/>
            <a:ext cx="411480" cy="320040"/>
          </a:xfrm>
          <a:prstGeom prst="rect">
            <a:avLst/>
          </a:prstGeom>
          <a:solidFill>
            <a:srgbClr val="CC3300">
              <a:alpha val="5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25512" y="24323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92040" y="2779776"/>
            <a:ext cx="411480" cy="320040"/>
          </a:xfrm>
          <a:prstGeom prst="rect">
            <a:avLst/>
          </a:prstGeom>
          <a:solidFill>
            <a:srgbClr val="AA1100">
              <a:alpha val="4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27797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30952" y="2779776"/>
            <a:ext cx="411480" cy="320040"/>
          </a:xfrm>
          <a:prstGeom prst="rect">
            <a:avLst/>
          </a:prstGeom>
          <a:solidFill>
            <a:srgbClr val="CC3300">
              <a:alpha val="5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30952" y="27797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769864" y="2779776"/>
            <a:ext cx="411480" cy="320040"/>
          </a:xfrm>
          <a:prstGeom prst="rect">
            <a:avLst/>
          </a:prstGeom>
          <a:solidFill>
            <a:srgbClr val="EE5500">
              <a:alpha val="7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9864" y="27797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08776" y="2779776"/>
            <a:ext cx="411480" cy="320040"/>
          </a:xfrm>
          <a:prstGeom prst="rect">
            <a:avLst/>
          </a:prstGeom>
          <a:solidFill>
            <a:srgbClr val="FF7700">
              <a:alpha val="8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08776" y="27797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647688" y="2779776"/>
            <a:ext cx="411480" cy="320040"/>
          </a:xfrm>
          <a:prstGeom prst="rect">
            <a:avLst/>
          </a:prstGeom>
          <a:solidFill>
            <a:srgbClr val="EE5500">
              <a:alpha val="7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47688" y="27797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086600" y="2779776"/>
            <a:ext cx="411480" cy="320040"/>
          </a:xfrm>
          <a:prstGeom prst="rect">
            <a:avLst/>
          </a:prstGeom>
          <a:solidFill>
            <a:srgbClr val="222233"/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86600" y="27797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55"/>
                </a:solidFill>
              </a:rPr>
              <a:t>█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7525512" y="2779776"/>
            <a:ext cx="411480" cy="320040"/>
          </a:xfrm>
          <a:prstGeom prst="rect">
            <a:avLst/>
          </a:prstGeom>
          <a:solidFill>
            <a:srgbClr val="AA1100">
              <a:alpha val="4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25512" y="27797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92040" y="3127248"/>
            <a:ext cx="411480" cy="320040"/>
          </a:xfrm>
          <a:prstGeom prst="rect">
            <a:avLst/>
          </a:prstGeom>
          <a:solidFill>
            <a:srgbClr val="555566">
              <a:alpha val="2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330952" y="3127248"/>
            <a:ext cx="411480" cy="320040"/>
          </a:xfrm>
          <a:prstGeom prst="rect">
            <a:avLst/>
          </a:prstGeom>
          <a:solidFill>
            <a:srgbClr val="AA1100">
              <a:alpha val="4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30952" y="31272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769864" y="3127248"/>
            <a:ext cx="411480" cy="320040"/>
          </a:xfrm>
          <a:prstGeom prst="rect">
            <a:avLst/>
          </a:prstGeom>
          <a:solidFill>
            <a:srgbClr val="CC3300">
              <a:alpha val="5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69864" y="31272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208776" y="3127248"/>
            <a:ext cx="411480" cy="320040"/>
          </a:xfrm>
          <a:prstGeom prst="rect">
            <a:avLst/>
          </a:prstGeom>
          <a:solidFill>
            <a:srgbClr val="EE5500">
              <a:alpha val="7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08776" y="31272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647688" y="3127248"/>
            <a:ext cx="411480" cy="320040"/>
          </a:xfrm>
          <a:prstGeom prst="rect">
            <a:avLst/>
          </a:prstGeom>
          <a:solidFill>
            <a:srgbClr val="CC3300">
              <a:alpha val="5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47688" y="31272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086600" y="3127248"/>
            <a:ext cx="411480" cy="320040"/>
          </a:xfrm>
          <a:prstGeom prst="rect">
            <a:avLst/>
          </a:prstGeom>
          <a:solidFill>
            <a:srgbClr val="AA1100">
              <a:alpha val="40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86600" y="31272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525512" y="3127248"/>
            <a:ext cx="411480" cy="320040"/>
          </a:xfrm>
          <a:prstGeom prst="rect">
            <a:avLst/>
          </a:prstGeom>
          <a:solidFill>
            <a:srgbClr val="555566">
              <a:alpha val="25000"/>
            </a:srgbClr>
          </a:solidFill>
          <a:ln w="6350">
            <a:solidFill>
              <a:srgbClr val="3333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54880" y="34930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 last known position  |  numbers = BFS wave distance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754880" y="4114800"/>
            <a:ext cx="4114800" cy="594360"/>
          </a:xfrm>
          <a:prstGeom prst="rect">
            <a:avLst/>
          </a:prstGeom>
          <a:solidFill>
            <a:srgbClr val="1A0E00"/>
          </a:solidFill>
          <a:ln w="12700">
            <a:solidFill>
              <a:srgbClr val="FF9A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92040" y="4160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 O(V + 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Space: O(V)  —  queue + visited set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74320" y="47548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guard.js  →  _bfsNext()  |  onEnterSearch()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Boids — Emergent Squad Behaviour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502920"/>
          </a:xfrm>
          <a:prstGeom prst="rect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 is told to form a group — 3 local rules create emergent collective behaviour automatically.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43200" cy="3017520"/>
          </a:xfrm>
          <a:prstGeom prst="rect">
            <a:avLst/>
          </a:prstGeom>
          <a:solidFill>
            <a:srgbClr val="13151F"/>
          </a:solidFill>
          <a:ln w="19050">
            <a:solidFill>
              <a:srgbClr val="FF2D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80160" y="1920240"/>
            <a:ext cx="731520" cy="731520"/>
          </a:xfrm>
          <a:prstGeom prst="ellipse">
            <a:avLst/>
          </a:prstGeom>
          <a:solidFill>
            <a:srgbClr val="FF2D2D">
              <a:alpha val="25000"/>
            </a:srgbClr>
          </a:solidFill>
          <a:ln w="19050">
            <a:solidFill>
              <a:srgbClr val="FF2D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2D2D"/>
                </a:solidFill>
              </a:rPr>
              <a:t>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guards get too close to each other, a repulsion force pushes them apart. Prevents pile-ups at intersections.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4206240"/>
            <a:ext cx="265176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FF2D2D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2245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F_sep = Σ (pos_self − pos_other) / dist²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27832" y="1874520"/>
            <a:ext cx="2743200" cy="3017520"/>
          </a:xfrm>
          <a:prstGeom prst="rect">
            <a:avLst/>
          </a:prstGeom>
          <a:solidFill>
            <a:srgbClr val="13151F"/>
          </a:solidFill>
          <a:ln w="19050">
            <a:solidFill>
              <a:srgbClr val="3B9E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33672" y="1920240"/>
            <a:ext cx="731520" cy="731520"/>
          </a:xfrm>
          <a:prstGeom prst="ellipse">
            <a:avLst/>
          </a:prstGeom>
          <a:solidFill>
            <a:srgbClr val="3B9EFF">
              <a:alpha val="25000"/>
            </a:srgbClr>
          </a:solidFill>
          <a:ln w="19050">
            <a:solidFill>
              <a:srgbClr val="3B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9EFF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19272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9272" y="31546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steer toward the average heading of nearby guards. When one turns, others gradually follow the direction.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73552" y="4206240"/>
            <a:ext cx="265176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B9E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42245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F_ali = normalize(Σ facing_neighbors)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81344" y="1874520"/>
            <a:ext cx="2743200" cy="3017520"/>
          </a:xfrm>
          <a:prstGeom prst="rect">
            <a:avLst/>
          </a:prstGeom>
          <a:solidFill>
            <a:srgbClr val="13151F"/>
          </a:solidFill>
          <a:ln w="19050">
            <a:solidFill>
              <a:srgbClr val="00E87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87184" y="1920240"/>
            <a:ext cx="731520" cy="731520"/>
          </a:xfrm>
          <a:prstGeom prst="ellipse">
            <a:avLst/>
          </a:prstGeom>
          <a:solidFill>
            <a:srgbClr val="00E87A">
              <a:alpha val="25000"/>
            </a:srgbClr>
          </a:solidFill>
          <a:ln w="19050">
            <a:solidFill>
              <a:srgbClr val="00E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87A"/>
                </a:solidFill>
              </a:rPr>
              <a:t>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72784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72784" y="31546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are attracted to the center of mass of the group. Keeps the squad together while still spreading out.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27064" y="4206240"/>
            <a:ext cx="265176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00E87A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42245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F_coh = normalize(center_of_mass − pos)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Complexity: O(n²) per frame  |  Space: O(n)     📁 boids.js → forces()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PERCEPTION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Raycasting Vision Cone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657600"/>
          </a:xfrm>
          <a:prstGeom prst="rect">
            <a:avLst/>
          </a:prstGeom>
          <a:solidFill>
            <a:srgbClr val="13151F"/>
          </a:solidFill>
          <a:ln w="12700">
            <a:solidFill>
              <a:srgbClr val="3B9E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B9E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of View: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45°–90° (varies by difficulty)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37944"/>
            <a:ext cx="393192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B9E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836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 Range: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8836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tiles based on level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393192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B9E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95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3957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angle check + raycasting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62072"/>
            <a:ext cx="393192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B9E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077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 blocking: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2907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steps halted at wall tile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74136"/>
            <a:ext cx="393192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B9E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198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logic: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4198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∧ angle ∧ line-of-sight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393192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B9E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319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O(rays × range) per guard per frame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234440"/>
            <a:ext cx="420624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vision.js → canSee()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16276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dist = √(dx²+dy²);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18836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if(dist &gt; range) return false;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13969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θ = atan2(dy, dx);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3957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if(|angleDiff| &gt; fov) return false;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6517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hasLineOfSight(g, p);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4206240" cy="1463040"/>
          </a:xfrm>
          <a:prstGeom prst="rect">
            <a:avLst/>
          </a:prstGeom>
          <a:solidFill>
            <a:srgbClr val="13151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520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Professor Quote: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822192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guard's perception is limited by strict line-of-sight constraints with geometric cone checking, making detection realistic and fair to the player."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vision.js  →  canSee()  |  buildConePoly()  |  hasLOS()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Algorithm Complexity Summary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737360" cy="384048"/>
          </a:xfrm>
          <a:prstGeom prst="rect">
            <a:avLst/>
          </a:prstGeom>
          <a:solidFill>
            <a:srgbClr val="222233"/>
          </a:solidFill>
          <a:ln w="6350">
            <a:solidFill>
              <a:srgbClr val="55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39112" y="1280160"/>
            <a:ext cx="1005840" cy="384048"/>
          </a:xfrm>
          <a:prstGeom prst="rect">
            <a:avLst/>
          </a:prstGeom>
          <a:solidFill>
            <a:srgbClr val="222233"/>
          </a:solidFill>
          <a:ln w="6350">
            <a:solidFill>
              <a:srgbClr val="5555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9112" y="12801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72384" y="1280160"/>
            <a:ext cx="1828800" cy="384048"/>
          </a:xfrm>
          <a:prstGeom prst="rect">
            <a:avLst/>
          </a:prstGeom>
          <a:solidFill>
            <a:srgbClr val="222233"/>
          </a:solidFill>
          <a:ln w="6350">
            <a:solidFill>
              <a:srgbClr val="555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1280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Complexity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1280160"/>
            <a:ext cx="1828800" cy="384048"/>
          </a:xfrm>
          <a:prstGeom prst="rect">
            <a:avLst/>
          </a:prstGeom>
          <a:solidFill>
            <a:srgbClr val="222233"/>
          </a:solidFill>
          <a:ln w="6350">
            <a:solidFill>
              <a:srgbClr val="555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280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Complexity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84848" y="1280160"/>
            <a:ext cx="1188720" cy="384048"/>
          </a:xfrm>
          <a:prstGeom prst="rect">
            <a:avLst/>
          </a:prstGeom>
          <a:solidFill>
            <a:srgbClr val="222233"/>
          </a:solidFill>
          <a:ln w="6350">
            <a:solidFill>
              <a:srgbClr val="5555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12801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1737360" cy="438912"/>
          </a:xfrm>
          <a:prstGeom prst="rect">
            <a:avLst/>
          </a:prstGeom>
          <a:solidFill>
            <a:srgbClr val="00E87A">
              <a:alpha val="15000"/>
            </a:srgbClr>
          </a:solidFill>
          <a:ln w="6350">
            <a:solidFill>
              <a:srgbClr val="00E87A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71907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Patrol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39112" y="1719072"/>
            <a:ext cx="100584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39112" y="171907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72384" y="1719072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72384" y="171907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28616" y="1719072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171907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84848" y="1719072"/>
            <a:ext cx="118872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171907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guard.js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1737360" cy="438912"/>
          </a:xfrm>
          <a:prstGeom prst="rect">
            <a:avLst/>
          </a:prstGeom>
          <a:solidFill>
            <a:srgbClr val="FF2D2D">
              <a:alpha val="15000"/>
            </a:srgbClr>
          </a:solidFill>
          <a:ln w="6350">
            <a:solidFill>
              <a:srgbClr val="FF2D2D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945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39112" y="2194560"/>
            <a:ext cx="100584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39112" y="219456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72384" y="2194560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72384" y="2194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V)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28616" y="2194560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2194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84848" y="2194560"/>
            <a:ext cx="118872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219456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astar.js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2670048"/>
            <a:ext cx="1737360" cy="438912"/>
          </a:xfrm>
          <a:prstGeom prst="rect">
            <a:avLst/>
          </a:prstGeom>
          <a:solidFill>
            <a:srgbClr val="FF9A00">
              <a:alpha val="15000"/>
            </a:srgbClr>
          </a:solidFill>
          <a:ln w="6350">
            <a:solidFill>
              <a:srgbClr val="FF9A00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6700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Search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039112" y="2670048"/>
            <a:ext cx="100584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39112" y="267004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72384" y="2670048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72384" y="267004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28616" y="2670048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267004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84848" y="2670048"/>
            <a:ext cx="118872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84848" y="267004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guard.js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145536"/>
            <a:ext cx="1737360" cy="438912"/>
          </a:xfrm>
          <a:prstGeom prst="rect">
            <a:avLst/>
          </a:prstGeom>
          <a:solidFill>
            <a:srgbClr val="A855F7">
              <a:alpha val="15000"/>
            </a:srgbClr>
          </a:solidFill>
          <a:ln w="635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14553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Boids Flocking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039112" y="3145536"/>
            <a:ext cx="100584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39112" y="314553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072384" y="3145536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72384" y="31455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 / frame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928616" y="3145536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28616" y="31455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84848" y="3145536"/>
            <a:ext cx="118872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4848" y="314553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boids.js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74320" y="3621024"/>
            <a:ext cx="1737360" cy="438912"/>
          </a:xfrm>
          <a:prstGeom prst="rect">
            <a:avLst/>
          </a:prstGeom>
          <a:solidFill>
            <a:srgbClr val="3B9EFF">
              <a:alpha val="15000"/>
            </a:srgbClr>
          </a:solidFill>
          <a:ln w="6350">
            <a:solidFill>
              <a:srgbClr val="3B9EFF">
                <a:alpha val="7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62102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Raycasting LOS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039112" y="3621024"/>
            <a:ext cx="100584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39112" y="362102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072384" y="3621024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72384" y="362102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O(rays×range)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28616" y="3621024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28616" y="362102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784848" y="3621024"/>
            <a:ext cx="118872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84848" y="362102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vision.js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4320" y="4096512"/>
            <a:ext cx="1737360" cy="438912"/>
          </a:xfrm>
          <a:prstGeom prst="rect">
            <a:avLst/>
          </a:prstGeom>
          <a:solidFill>
            <a:srgbClr val="8888AA">
              <a:alpha val="15000"/>
            </a:srgbClr>
          </a:solidFill>
          <a:ln w="6350">
            <a:solidFill>
              <a:srgbClr val="8888AA">
                <a:alpha val="7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09651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Transition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039112" y="4096512"/>
            <a:ext cx="100584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39112" y="409651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072384" y="4096512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72384" y="40965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928616" y="4096512"/>
            <a:ext cx="182880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28616" y="40965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784848" y="4096512"/>
            <a:ext cx="1188720" cy="438912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>
                <a:alpha val="3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84848" y="409651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fsm.js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3151F"/>
          </a:solidFill>
          <a:ln w="6350">
            <a:solidFill>
              <a:srgbClr val="55556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4654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number of walkable tiles  |  E = edges between adjacent tiles  |  n = number of guards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Makes This Project Special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274320" y="1463040"/>
            <a:ext cx="4206240" cy="1600200"/>
          </a:xfrm>
          <a:prstGeom prst="rect">
            <a:avLst/>
          </a:prstGeom>
          <a:solidFill>
            <a:srgbClr val="13151F"/>
          </a:solidFill>
          <a:ln w="19050">
            <a:solidFill>
              <a:srgbClr val="00E87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463040"/>
            <a:ext cx="54864" cy="1600200"/>
          </a:xfrm>
          <a:prstGeom prst="rect">
            <a:avLst/>
          </a:prstGeom>
          <a:solidFill>
            <a:srgbClr val="00E87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8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1993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Algorithms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23591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DFS, A*, BFS and Boids are not simulated — they run as actual code on every frame, making the AI genuinely intelligent.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4206240" cy="1600200"/>
          </a:xfrm>
          <a:prstGeom prst="rect">
            <a:avLst/>
          </a:prstGeom>
          <a:solidFill>
            <a:srgbClr val="13151F"/>
          </a:solidFill>
          <a:ln w="19050">
            <a:solidFill>
              <a:srgbClr val="FF2D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463040"/>
            <a:ext cx="54864" cy="160020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92040" y="1993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Proof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23591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algorithm is drawn on screen in real time. DFS trail, A* path nodes, BFS wave rings and Boid force arrows are all live.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291840"/>
            <a:ext cx="4206240" cy="1600200"/>
          </a:xfrm>
          <a:prstGeom prst="rect">
            <a:avLst/>
          </a:prstGeom>
          <a:solidFill>
            <a:srgbClr val="13151F"/>
          </a:solidFill>
          <a:ln w="19050">
            <a:solidFill>
              <a:srgbClr val="FF9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91840"/>
            <a:ext cx="54864" cy="1600200"/>
          </a:xfrm>
          <a:prstGeom prst="rect">
            <a:avLst/>
          </a:prstGeom>
          <a:solidFill>
            <a:srgbClr val="FF9A00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A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11480" y="3822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 Depth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" y="41879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space complexity shown in the AI panel. FSM state transitions log live. Each algorithm used is academically justified.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291840"/>
            <a:ext cx="4206240" cy="1600200"/>
          </a:xfrm>
          <a:prstGeom prst="rect">
            <a:avLst/>
          </a:prstGeom>
          <a:solidFill>
            <a:srgbClr val="13151F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291840"/>
            <a:ext cx="54864" cy="1600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892040" y="3822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Emergent AI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41879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use local rules (Boids) + global pathfinding (A*) + structured exploration (DFS/BFS) — a multi-algorithm agent system.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Prison Break  •  Cinematic Stealth Game  •  HTML5 Canvas + Vanilla JS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Prison Break — Algorithm Deep Dive</dc:title>
  <dc:subject>PptxGenJS Presentation</dc:subject>
  <dc:creator>PptxGenJS</dc:creator>
  <cp:lastModifiedBy>PptxGenJS</cp:lastModifiedBy>
  <cp:revision>1</cp:revision>
  <dcterms:created xsi:type="dcterms:W3CDTF">2026-02-20T03:31:44Z</dcterms:created>
  <dcterms:modified xsi:type="dcterms:W3CDTF">2026-02-20T03:31:44Z</dcterms:modified>
</cp:coreProperties>
</file>